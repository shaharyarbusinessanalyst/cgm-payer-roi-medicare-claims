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Non-diabetic</c:v>
                </c:pt>
                <c:pt idx="1">
                  <c:v>Comorbidity mix</c:v>
                </c:pt>
                <c:pt idx="2">
                  <c:v>Diabetes-associated</c:v>
                </c:pt>
                <c:pt idx="3">
                  <c:v>Diabetic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170</c:v>
                </c:pt>
                <c:pt idx="2">
                  <c:v>452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990000"/>
            </a:solidFill>
          </c:spPr>
          <c:dPt>
            <c:idx val="0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A6A6A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FFFFFF"/>
                        </a:solidFill>
                        <a:latin typeface="Arial"/>
                      </a:rPr>
                      <a:t>$170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FFFFFF"/>
                        </a:solidFill>
                        <a:latin typeface="Arial"/>
                      </a:rPr>
                      <a:t>$282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FFFFFF"/>
                        </a:solidFill>
                        <a:latin typeface="Arial"/>
                      </a:rPr>
                      <a:t>$203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2200" b="1">
                        <a:solidFill>
                          <a:srgbClr val="FFFFFF"/>
                        </a:solidFill>
                        <a:latin typeface="Arial"/>
                      </a:rPr>
                      <a:t>$655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Non-diabetic</c:v>
                </c:pt>
                <c:pt idx="1">
                  <c:v>Comorbidity mix</c:v>
                </c:pt>
                <c:pt idx="2">
                  <c:v>Diabetes-associated</c:v>
                </c:pt>
                <c:pt idx="3">
                  <c:v>Diabetic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170</c:v>
                </c:pt>
                <c:pt idx="1">
                  <c:v>282</c:v>
                </c:pt>
                <c:pt idx="2">
                  <c:v>203</c:v>
                </c:pt>
                <c:pt idx="3">
                  <c:v>655</c:v>
                </c:pt>
              </c:numCache>
            </c:numRef>
          </c:val>
        </c:ser>
        <c:gapWidth val="10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rgbClr val="990000"/>
            </a:solidFill>
          </c:spPr>
          <c:cat>
            <c:strRef>
              <c:f>Sheet1!$A$2:$A$4</c:f>
              <c:strCache>
                <c:ptCount val="3"/>
                <c:pt idx="0">
                  <c:v>Inpatient</c:v>
                </c:pt>
                <c:pt idx="1">
                  <c:v>Physician (carrier)</c:v>
                </c:pt>
                <c:pt idx="2">
                  <c:v>Outpatient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272</c:v>
                </c:pt>
                <c:pt idx="1">
                  <c:v>134</c:v>
                </c:pt>
                <c:pt idx="2">
                  <c:v>79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sz="2200" b="1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3"/>
            <c:spPr>
              <a:solidFill>
                <a:srgbClr val="990000"/>
              </a:solidFill>
            </c:spPr>
          </c:dPt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1-2</c:v>
                </c:pt>
                <c:pt idx="2">
                  <c:v>3-4</c:v>
                </c:pt>
                <c:pt idx="3">
                  <c:v>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-94</c:v>
                </c:pt>
                <c:pt idx="1">
                  <c:v>-88</c:v>
                </c:pt>
                <c:pt idx="2">
                  <c:v>-74</c:v>
                </c:pt>
                <c:pt idx="3">
                  <c:v>-43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2000" b="1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Targeted CGM can pay for itself in high-risk diabetics, if it is priced to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F7F7F"/>
                </a:solidFill>
                <a:latin typeface="Arial"/>
              </a:rPr>
              <a:t>A payer ROI model for continuous glucose monitoring, built on Medicare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8229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Arial"/>
              </a:rPr>
              <a:t>Shaharyar Amjad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F7F7F"/>
                </a:solidFill>
                <a:latin typeface="Arial"/>
              </a:rPr>
              <a:t>Portfolio analysis,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" y="1325880"/>
            <a:ext cx="2971800" cy="475488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1325880"/>
            <a:ext cx="2971800" cy="46634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" y="1325880"/>
            <a:ext cx="2971800" cy="466344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The cost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" y="1920240"/>
            <a:ext cx="2834640" cy="4023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Diabetics cost 3.9x non-diabetics before adjustment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Within comorbidity bands the gap is 1.3x to 1.6x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About 58% of the raw gap is other illness, not diabetes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56% of the excess is inpatient spend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081528" y="1325880"/>
            <a:ext cx="2971800" cy="475488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81528" y="1325880"/>
            <a:ext cx="2971800" cy="46634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1325880"/>
            <a:ext cx="2971800" cy="466344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Where ROI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920240"/>
            <a:ext cx="2834640" cy="4023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At $250/month, CGM returns about a third of its cost for the average diabetic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Members with 5+ other conditions get about 10x the return of the healthiest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Acute diabetes events are under 1% of admissions; the case rests on all-cause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7336" y="1325880"/>
            <a:ext cx="2971800" cy="475488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7336" y="1325880"/>
            <a:ext cx="2971800" cy="46634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325880"/>
            <a:ext cx="2971800" cy="466344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How to 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1920240"/>
            <a:ext cx="2834640" cy="4023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Target complex diabetics, and diabetics with depression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Price to outcomes: each 5 points of admission reduction supports about $45/month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Start in Florida and Michigan: large MA markets with high hospital and ED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Arial"/>
              </a:rPr>
              <a:t>SOURCE: CMS DE-SynPUF Sample 1 (synthetic Medicare claims, 2009); published CGM studies; CMS Geographic Variation PUF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Most of the diabetic cost gap is other illness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9576"/>
            <a:ext cx="8229600" cy="80467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Diabetes itself is associated with about $203 of a $485 monthly 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F7F7F"/>
                </a:solidFill>
                <a:latin typeface="Arial"/>
              </a:rPr>
              <a:t>Dollars per member per month, 2009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01168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Arial"/>
              </a:rPr>
              <a:t>SOURCE: CMS DE-SynPUF Sample 1, 2009, 73,612 eligible fee-for-service members; comorbidity adjustment by direct standardization across four bands of other chronic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Hospital stays drive the excess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9576"/>
            <a:ext cx="8229600" cy="80467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56% of the extra spend is inpatient: avoided admissions are the lever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F7F7F"/>
                </a:solidFill>
                <a:latin typeface="Arial"/>
              </a:rPr>
              <a:t>Extra dollars per member per month, diabetic minus non-diabetic, 2009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286000"/>
          <a:ext cx="5486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217920" y="2286000"/>
            <a:ext cx="2651760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2377440"/>
            <a:ext cx="2377440" cy="31089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Share of the $485 gap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Inpatient  56%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Physician  28%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Outpatient  16%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Arial"/>
              </a:rPr>
              <a:t>Drug costs (Part D) are not included, so savings are medical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Arial"/>
              </a:rPr>
              <a:t>SOURCE: CMS DE-SynPUF Sample 1, 2009; Medicare reimbursement by setting (MEDREIMB_IP, OP, CAR)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Return rises steeply with member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9576"/>
            <a:ext cx="8229600" cy="80467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At $250/month no group breaks even; the sickest come closest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F7F7F"/>
                </a:solidFill>
                <a:latin typeface="Arial"/>
              </a:rPr>
              <a:t>Base-case ROI, percent, by number of other chronic conditions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194560"/>
          <a:ext cx="51206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97880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Other chronic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286000"/>
            <a:ext cx="82296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743200"/>
            <a:ext cx="82296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200400"/>
            <a:ext cx="82296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657600"/>
            <a:ext cx="82296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3-4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114800"/>
            <a:ext cx="82296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5+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0" y="2286000"/>
            <a:ext cx="0" cy="228600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0" y="228600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Admits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0.07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0040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0.33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0.73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79" y="2286000"/>
            <a:ext cx="0" cy="228600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79" y="22860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Break-even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743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2004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$31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6576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$66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1148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90000"/>
                </a:solidFill>
                <a:latin typeface="Arial"/>
              </a:rPr>
              <a:t>$143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2743200"/>
            <a:ext cx="310896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60720" y="4709160"/>
            <a:ext cx="3108960" cy="1097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F7F7F"/>
                </a:solidFill>
                <a:latin typeface="Arial"/>
              </a:rPr>
              <a:t>Break-even = the monthly CGM price at which avoided admissions and ED visits cover the 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Arial"/>
              </a:rPr>
              <a:t>SOURCE: Model on DE-SynPUF 2009 diabetics; base inputs: 15% fewer admissions, 20% fewer ED visits, 70% adherence, $9,724 per admission and $369 per ED visit inflated x1.55 (CPI medical care 2009 to 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Price and outcome decide the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9576"/>
            <a:ext cx="8229600" cy="80467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5 points fewer admissions is worth about $45/month of CGM price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F7F7F"/>
                </a:solidFill>
                <a:latin typeface="Arial"/>
              </a:rPr>
              <a:t>ROI, percent, members with 5+ other chronic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05740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Reduction in all-cause admissions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CGM price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$100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$150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4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$200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$250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$300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468880"/>
            <a:ext cx="0" cy="301752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0" y="24688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7180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47472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7764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-51%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8056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-61%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9834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-68%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2468880"/>
            <a:ext cx="0" cy="301752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31920" y="24688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97180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+44%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47472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97764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48056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9834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-52%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20640" y="2468880"/>
            <a:ext cx="0" cy="301752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20640" y="24688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97180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7472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+26%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97764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48056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-24%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9834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-37%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09359" y="2468880"/>
            <a:ext cx="0" cy="301752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09359" y="24688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297180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+136%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347472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+57%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397764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+18%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448056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49834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-21%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98079" y="2468880"/>
            <a:ext cx="0" cy="301752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498079" y="24688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32%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297180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+200%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347472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397764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+50%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48056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90000"/>
                </a:solidFill>
                <a:latin typeface="Arial"/>
              </a:rPr>
              <a:t>+20%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983480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" y="2971800"/>
            <a:ext cx="822960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562356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Arial"/>
              </a:rPr>
              <a:t>Red = payer comes out ahead. Shaded row = base-case price. Published studies report 15% to 32% fewer all-cause admissions.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Arial"/>
              </a:rPr>
              <a:t>SOURCE: Model as on previous slide; effect range from Miller et al., AJMC 2021 (HR 0.85) and J Endocr Soc 2021 (HR 0.68)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Where to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9576"/>
            <a:ext cx="8229600" cy="80467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Florida and Michigan pair big MA markets with high hospital use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F7F7F"/>
                </a:solidFill>
                <a:latin typeface="Arial"/>
              </a:rPr>
              <a:t>Top states by estimated Medicare Advantage admissions,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9144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87752"/>
            <a:ext cx="9144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26664"/>
            <a:ext cx="9144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90000"/>
                </a:solidFill>
                <a:latin typeface="Arial"/>
              </a:rPr>
              <a:t>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65576"/>
            <a:ext cx="9144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04487"/>
            <a:ext cx="9144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9144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82312"/>
            <a:ext cx="9144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90000"/>
                </a:solidFill>
                <a:latin typeface="Arial"/>
              </a:rPr>
              <a:t>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21224"/>
            <a:ext cx="9144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OH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2148840"/>
            <a:ext cx="0" cy="3511296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71600" y="2148840"/>
            <a:ext cx="146304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MA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87752"/>
            <a:ext cx="146304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3.47M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26664"/>
            <a:ext cx="146304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2.85M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65576"/>
            <a:ext cx="146304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2.51M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04487"/>
            <a:ext cx="146304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1.99M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43400"/>
            <a:ext cx="146304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1.55M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82312"/>
            <a:ext cx="146304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1.38M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21224"/>
            <a:ext cx="146304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1.40M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34640" y="2148840"/>
            <a:ext cx="0" cy="3511296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34640" y="2148840"/>
            <a:ext cx="128016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MA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587752"/>
            <a:ext cx="128016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026664"/>
            <a:ext cx="128016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465576"/>
            <a:ext cx="128016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904487"/>
            <a:ext cx="128016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343400"/>
            <a:ext cx="128016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782312"/>
            <a:ext cx="128016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90000"/>
                </a:solidFill>
                <a:latin typeface="Arial"/>
              </a:rPr>
              <a:t>66%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221224"/>
            <a:ext cx="128016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60%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0" y="2148840"/>
            <a:ext cx="0" cy="3511296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14800" y="2148840"/>
            <a:ext cx="155448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Admits /1,000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587752"/>
            <a:ext cx="155448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217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026664"/>
            <a:ext cx="155448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90000"/>
                </a:solidFill>
                <a:latin typeface="Arial"/>
              </a:rPr>
              <a:t>262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465576"/>
            <a:ext cx="155448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227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904487"/>
            <a:ext cx="155448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252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343400"/>
            <a:ext cx="155448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240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782312"/>
            <a:ext cx="155448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244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221224"/>
            <a:ext cx="155448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239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0" y="2148840"/>
            <a:ext cx="0" cy="3511296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69280" y="2148840"/>
            <a:ext cx="13716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ED /1,000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2587752"/>
            <a:ext cx="13716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026664"/>
            <a:ext cx="13716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621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3465576"/>
            <a:ext cx="13716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3904487"/>
            <a:ext cx="13716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343400"/>
            <a:ext cx="13716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782312"/>
            <a:ext cx="13716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90000"/>
                </a:solidFill>
                <a:latin typeface="Arial"/>
              </a:rPr>
              <a:t>638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221224"/>
            <a:ext cx="137160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620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040880" y="2148840"/>
            <a:ext cx="0" cy="3511296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040880" y="2148840"/>
            <a:ext cx="164592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MA admits pool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2587752"/>
            <a:ext cx="164592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753k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3026664"/>
            <a:ext cx="164592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745k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3465576"/>
            <a:ext cx="164592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569k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3904487"/>
            <a:ext cx="164592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502k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4343400"/>
            <a:ext cx="164592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372k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4782312"/>
            <a:ext cx="164592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337k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5221224"/>
            <a:ext cx="1645920" cy="438912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335k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2587752"/>
            <a:ext cx="822960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57200" y="5715000"/>
            <a:ext cx="8229600" cy="50292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F7F7F"/>
                </a:solidFill>
                <a:latin typeface="Arial"/>
              </a:rPr>
              <a:t>Red = highest in the top seven. MA admissions pool = MA members x admissions per 1,000; admission rates are fee-for-service rates used as a proxy for MA.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Arial"/>
              </a:rPr>
              <a:t>SOURCE: CMS Medicare Geographic Variation Public Use File, 2014-2024 release, state level,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Arial"/>
              </a:rPr>
              <a:t>Method and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" y="1325880"/>
            <a:ext cx="2971800" cy="475488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1325880"/>
            <a:ext cx="2971800" cy="46634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" y="1325880"/>
            <a:ext cx="2971800" cy="466344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Data and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" y="1920240"/>
            <a:ext cx="2834640" cy="4023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CMS synthetic Medicare claims: 152,900 member-years after enrollment exclusions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PMPM on member months; events per 1,000; 30-day readmissions with window functions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Comorbidity-adjusted comparison by stratification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81528" y="1325880"/>
            <a:ext cx="2971800" cy="475488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81528" y="1325880"/>
            <a:ext cx="2971800" cy="46634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1325880"/>
            <a:ext cx="2971800" cy="466344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920240"/>
            <a:ext cx="2834640" cy="4023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Effects from observational claims studies: 10% / 15% / 32% fewer admissions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CGM cost $150 to $400/month; base $250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70% adherence and 30% eligible share are working assumptions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7336" y="1325880"/>
            <a:ext cx="2971800" cy="475488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7336" y="1325880"/>
            <a:ext cx="2971800" cy="46634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7336" y="1325880"/>
            <a:ext cx="2971800" cy="466344"/>
          </a:xfrm>
          <a:prstGeom prst="rect">
            <a:avLst/>
          </a:prstGeom>
          <a:noFill/>
        </p:spPr>
        <p:txBody>
          <a:bodyPr wrap="square" anchor="ctr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1920240"/>
            <a:ext cx="2834640" cy="4023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Synthetic data distorts links between variables: use for method, not real effect sizes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Before/after studies overstate effects (regression to the mean)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Not modeled: physician fees per event, drugs, readmissions, MA Star Ratings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Arial"/>
              </a:rPr>
              <a:t>SOURCE: Full code and assumptions in project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